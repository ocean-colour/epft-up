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1072865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F3A5F"/>
                </a:solidFill>
              </a:rPr>
              <a:t>The 2nd-derivative (SDP) approach to phytoplankton pigments from hyperspectral Rrs</a:t>
            </a:r>
          </a:p>
          <a:p>
            <a:r>
              <a:rPr sz="2800" b="0">
                <a:solidFill>
                  <a:srgbClr val="B03A2E"/>
                </a:solidFill>
              </a:rPr>
              <a:t>Reproduction, critique and alternatives, with uncertainty</a:t>
            </a:r>
          </a:p>
          <a:p>
            <a:pPr>
              <a:spcBef>
                <a:spcPts val="3000"/>
              </a:spcBef>
            </a:pPr>
            <a:r>
              <a:rPr sz="2200" b="0">
                <a:solidFill>
                  <a:srgbClr val="555555"/>
                </a:solidFill>
              </a:rPr>
              <a:t>Claude (Opus 5.5) for J. Xavier Prochaska · EPFT-UP · October 2026</a:t>
            </a:r>
          </a:p>
          <a:p>
            <a:r>
              <a:rPr sz="2000" b="0">
                <a:solidFill>
                  <a:srgbClr val="555555"/>
                </a:solidFill>
              </a:rPr>
              <a:t>Report: reports/SDP_Claude_Report.md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F3A5F"/>
                </a:solidFill>
              </a:rPr>
              <a:t>Why: PFTs from hyperspectral ocean color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77295" cy="36576"/>
          </a:xfrm>
          <a:prstGeom prst="rect">
            <a:avLst/>
          </a:prstGeom>
          <a:solidFill>
            <a:srgbClr val="B0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k22_fi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337139"/>
            <a:ext cx="6202512" cy="282380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796872" y="1234440"/>
            <a:ext cx="502906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 b="0"/>
              <a:t>• Phytoplankton functional types (PFTs) are what ecosystem and carbon models need</a:t>
            </a:r>
          </a:p>
          <a:p>
            <a:pPr>
              <a:spcAft>
                <a:spcPts val="800"/>
              </a:spcAft>
            </a:pPr>
            <a:r>
              <a:rPr sz="2200" b="0"/>
              <a:t>• Multispectral color gives chlorophyll, not composition</a:t>
            </a:r>
          </a:p>
          <a:p>
            <a:pPr>
              <a:spcAft>
                <a:spcPts val="800"/>
              </a:spcAft>
            </a:pPr>
            <a:r>
              <a:rPr sz="2200" b="0"/>
              <a:t>• PACE OCI now delivers global hyperspectral Rrs</a:t>
            </a:r>
          </a:p>
          <a:p>
            <a:pPr>
              <a:spcAft>
                <a:spcPts val="800"/>
              </a:spcAft>
            </a:pPr>
            <a:r>
              <a:rPr sz="2200" b="0"/>
              <a:t>• </a:t>
            </a:r>
            <a:r>
              <a:rPr sz="2200" b="1"/>
              <a:t>SDP</a:t>
            </a:r>
            <a:r>
              <a:rPr sz="2200" b="0"/>
              <a:t> (Kramer et al. 2022) is the leading derivative method; NASA ships an OCI notebook (oci_sdp)</a:t>
            </a:r>
          </a:p>
          <a:p>
            <a:pPr>
              <a:spcAft>
                <a:spcPts val="800"/>
              </a:spcAft>
            </a:pPr>
            <a:r>
              <a:rPr sz="2200" b="0"/>
              <a:t>• Training set: 145 global HPLC + Rrs matchups, 8 campaigns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72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0">
                <a:solidFill>
                  <a:srgbClr val="555555"/>
                </a:solidFill>
              </a:rPr>
              <a:t>Kramer et al. 2022, Fig. 1 (training matchups)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F3A5F"/>
                </a:solidFill>
              </a:rPr>
              <a:t>What SDP does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77295" cy="36576"/>
          </a:xfrm>
          <a:prstGeom prst="rect">
            <a:avLst/>
          </a:prstGeom>
          <a:solidFill>
            <a:srgbClr val="B0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k22_fig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939755"/>
            <a:ext cx="6766377" cy="361856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60737" y="1234440"/>
            <a:ext cx="4465198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 b="0"/>
              <a:t>• Fit a GSM-like model to Rrs (Tchla, a_dg, b_bp)</a:t>
            </a:r>
          </a:p>
          <a:p>
            <a:pPr>
              <a:spcAft>
                <a:spcPts val="800"/>
              </a:spcAft>
            </a:pPr>
            <a:r>
              <a:rPr sz="2200" b="0"/>
              <a:t>• Residual </a:t>
            </a:r>
            <a:r>
              <a:rPr sz="2200" b="1"/>
              <a:t>δRrs = Rrs − Rrs_mod</a:t>
            </a:r>
          </a:p>
          <a:p>
            <a:pPr>
              <a:spcAft>
                <a:spcPts val="800"/>
              </a:spcAft>
            </a:pPr>
            <a:r>
              <a:rPr sz="2200" b="0"/>
              <a:t>• Second derivative δRrs″ (1 nm)</a:t>
            </a:r>
          </a:p>
          <a:p>
            <a:pPr>
              <a:spcAft>
                <a:spcPts val="800"/>
              </a:spcAft>
            </a:pPr>
            <a:r>
              <a:rPr sz="2200" b="0"/>
              <a:t>• PCR: z-score, PCs by inner CV, 100 random 75/25 splits</a:t>
            </a:r>
          </a:p>
          <a:p>
            <a:pPr>
              <a:spcAft>
                <a:spcPts val="800"/>
              </a:spcAft>
            </a:pPr>
            <a:r>
              <a:rPr sz="2200" b="0"/>
              <a:t>• Output: 13 HPLC pigment concentrations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72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0">
                <a:solidFill>
                  <a:srgbClr val="555555"/>
                </a:solidFill>
              </a:rPr>
              <a:t>Kramer et al. 2022, Fig. 2: (A) Rrs, (B) Rrs_mod, (C) δRrs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F3A5F"/>
                </a:solidFill>
              </a:rPr>
              <a:t>Why derivatives? Pigment features in δRrs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77295" cy="36576"/>
          </a:xfrm>
          <a:prstGeom prst="rect">
            <a:avLst/>
          </a:prstGeom>
          <a:solidFill>
            <a:srgbClr val="B0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k22_fig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848742"/>
            <a:ext cx="6766377" cy="380059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60737" y="1234440"/>
            <a:ext cx="4465198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 b="0"/>
              <a:t>• Pigment–spectrum correlations sharpen from δRrs to δRrs′ to δRrs″</a:t>
            </a:r>
          </a:p>
          <a:p>
            <a:pPr>
              <a:spcAft>
                <a:spcPts val="800"/>
              </a:spcAft>
            </a:pPr>
            <a:r>
              <a:rPr sz="2200" b="0"/>
              <a:t>• Lineage: Catlett &amp; Siegel 2018 used a_ph′, a_ph″ with PCR</a:t>
            </a:r>
          </a:p>
          <a:p>
            <a:pPr>
              <a:spcAft>
                <a:spcPts val="800"/>
              </a:spcAft>
            </a:pPr>
            <a:r>
              <a:rPr sz="2200" b="0"/>
              <a:t>• Their argument: pigment </a:t>
            </a:r>
            <a:r>
              <a:rPr sz="2200" b="1"/>
              <a:t>covariance</a:t>
            </a:r>
            <a:r>
              <a:rPr sz="2200" b="0"/>
              <a:t> makes communities retrievable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72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0">
                <a:solidFill>
                  <a:srgbClr val="555555"/>
                </a:solidFill>
              </a:rPr>
              <a:t>Kramer et al. 2022, Fig.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F3A5F"/>
                </a:solidFill>
              </a:rPr>
              <a:t>What HPLC itself can resolve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77295" cy="36576"/>
          </a:xfrm>
          <a:prstGeom prst="rect">
            <a:avLst/>
          </a:prstGeom>
          <a:solidFill>
            <a:srgbClr val="B0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ks19_dend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36459"/>
            <a:ext cx="5638647" cy="3745001"/>
          </a:xfrm>
          <a:prstGeom prst="rect">
            <a:avLst/>
          </a:prstGeom>
        </p:spPr>
      </p:pic>
      <p:pic>
        <p:nvPicPr>
          <p:cNvPr id="5" name="Picture 4" descr="ks19_eo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7287" y="1241157"/>
            <a:ext cx="5638647" cy="37356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120640"/>
            <a:ext cx="11094415" cy="118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 b="0"/>
              <a:t>• Globally </a:t>
            </a:r>
            <a:r>
              <a:rPr sz="2200" b="1"/>
              <a:t>4</a:t>
            </a:r>
            <a:r>
              <a:rPr sz="2200" b="0"/>
              <a:t> pigment groups (diatoms + dinos merge); 4–6 locally</a:t>
            </a:r>
          </a:p>
          <a:p>
            <a:pPr>
              <a:spcAft>
                <a:spcPts val="800"/>
              </a:spcAft>
            </a:pPr>
            <a:r>
              <a:rPr sz="2200" b="0"/>
              <a:t>• Leading EOF: diatoms/dinos vs picophytoplankton (24%)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55080"/>
            <a:ext cx="112772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0">
                <a:solidFill>
                  <a:srgbClr val="555555"/>
                </a:solidFill>
              </a:rPr>
              <a:t>Kramer &amp; Siegel 2019 (4,480 samples), Figs. 3–4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F3A5F"/>
                </a:solidFill>
              </a:rPr>
              <a:t>What SDP claims (2022)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77295" cy="36576"/>
          </a:xfrm>
          <a:prstGeom prst="rect">
            <a:avLst/>
          </a:prstGeom>
          <a:solidFill>
            <a:srgbClr val="B0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k22_fig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2304" y="1234440"/>
            <a:ext cx="3325558" cy="5029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233007" y="1234440"/>
            <a:ext cx="5592927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 b="0"/>
              <a:t>• Validation R² </a:t>
            </a:r>
            <a:r>
              <a:rPr sz="2200" b="1"/>
              <a:t>0.37–0.72</a:t>
            </a:r>
            <a:r>
              <a:rPr sz="2200" b="0"/>
              <a:t> for 13 pigments (Table 2)</a:t>
            </a:r>
          </a:p>
          <a:p>
            <a:pPr>
              <a:spcAft>
                <a:spcPts val="800"/>
              </a:spcAft>
            </a:pPr>
            <a:r>
              <a:rPr sz="2200" b="0"/>
              <a:t>• 1–5 nm sampling is enough; 10 nm degrades</a:t>
            </a:r>
          </a:p>
          <a:p>
            <a:pPr>
              <a:spcAft>
                <a:spcPts val="800"/>
              </a:spcAft>
            </a:pPr>
            <a:r>
              <a:rPr sz="2200" b="0"/>
              <a:t>• The 5 HPLC pigment groups re-emerge from modelled pigments</a:t>
            </a:r>
          </a:p>
          <a:p>
            <a:pPr>
              <a:spcAft>
                <a:spcPts val="800"/>
              </a:spcAft>
            </a:pPr>
            <a:r>
              <a:rPr sz="2200" b="0"/>
              <a:t>• Validated on random 75/25 splits; no chlorophyll-only baseline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72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0">
                <a:solidFill>
                  <a:srgbClr val="555555"/>
                </a:solidFill>
              </a:rPr>
              <a:t>Kramer et al. 2022, Fig.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F3A5F"/>
                </a:solidFill>
              </a:rPr>
              <a:t>2024: δRrs defines optical communities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77295" cy="36576"/>
          </a:xfrm>
          <a:prstGeom prst="rect">
            <a:avLst/>
          </a:prstGeom>
          <a:solidFill>
            <a:srgbClr val="B0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k24_fi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59" y="1222844"/>
            <a:ext cx="5638647" cy="3772230"/>
          </a:xfrm>
          <a:prstGeom prst="rect">
            <a:avLst/>
          </a:prstGeom>
        </p:spPr>
      </p:pic>
      <p:pic>
        <p:nvPicPr>
          <p:cNvPr id="5" name="Picture 4" descr="k24_fig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7287" y="1429677"/>
            <a:ext cx="5638647" cy="335856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120640"/>
            <a:ext cx="11094415" cy="118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 b="0"/>
              <a:t>• 145 + 17 EXPORTS-NA samples; 3 δRrs communities vs 3 HPLC communities</a:t>
            </a:r>
          </a:p>
          <a:p>
            <a:pPr>
              <a:spcAft>
                <a:spcPts val="800"/>
              </a:spcAft>
            </a:pPr>
            <a:r>
              <a:rPr sz="2200" b="0"/>
              <a:t>• </a:t>
            </a:r>
            <a:r>
              <a:rPr sz="2200" b="1"/>
              <a:t>74%</a:t>
            </a:r>
            <a:r>
              <a:rPr sz="2200" b="0"/>
              <a:t> of samples assigned to matching communities; same at 5 nm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55080"/>
            <a:ext cx="112772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0">
                <a:solidFill>
                  <a:srgbClr val="555555"/>
                </a:solidFill>
              </a:rPr>
              <a:t>Kramer et al. 2024, Fig. 1 (left) and Fig. 3 (right)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F3A5F"/>
                </a:solidFill>
              </a:rPr>
              <a:t>How we tested it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77295" cy="36576"/>
          </a:xfrm>
          <a:prstGeom prst="rect">
            <a:avLst/>
          </a:prstGeom>
          <a:solidFill>
            <a:srgbClr val="B0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91153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 b="0"/>
              <a:t>• </a:t>
            </a:r>
            <a:r>
              <a:rPr sz="2200" b="1"/>
              <a:t>Data:</a:t>
            </a:r>
            <a:r>
              <a:rPr sz="2200" b="0"/>
              <a:t> PANGAEA 937536 (145 samples), SHA-256 pinned; Kramer's MATLAB code and the Python port at pinned commits</a:t>
            </a:r>
          </a:p>
          <a:p>
            <a:pPr>
              <a:spcAft>
                <a:spcPts val="800"/>
              </a:spcAft>
            </a:pPr>
            <a:r>
              <a:rPr sz="2200" b="0"/>
              <a:t>• </a:t>
            </a:r>
            <a:r>
              <a:rPr sz="2200" b="1"/>
              <a:t>Re-derived independently</a:t>
            </a:r>
            <a:r>
              <a:rPr sz="2200" b="0"/>
              <a:t> in Python (epft_up/sdp/), then checked against both codes</a:t>
            </a:r>
          </a:p>
          <a:p>
            <a:pPr>
              <a:spcAft>
                <a:spcPts val="800"/>
              </a:spcAft>
            </a:pPr>
            <a:r>
              <a:rPr sz="2200" b="0"/>
              <a:t>• </a:t>
            </a:r>
            <a:r>
              <a:rPr sz="2200" b="1"/>
              <a:t>Two tests for every model:</a:t>
            </a:r>
          </a:p>
          <a:p>
            <a:pPr lvl="1">
              <a:spcAft>
                <a:spcPts val="800"/>
              </a:spcAft>
            </a:pPr>
            <a:r>
              <a:rPr sz="2200" b="0"/>
              <a:t>– skill above a 2-parameter </a:t>
            </a:r>
            <a:r>
              <a:rPr sz="2200" b="1"/>
              <a:t>Tchla-only null</a:t>
            </a:r>
            <a:r>
              <a:rPr sz="2200" b="0"/>
              <a:t> (pigment = a·Tchla^b)</a:t>
            </a:r>
          </a:p>
          <a:p>
            <a:pPr lvl="1">
              <a:spcAft>
                <a:spcPts val="800"/>
              </a:spcAft>
            </a:pPr>
            <a:r>
              <a:rPr sz="2200" b="0"/>
              <a:t>– skill under </a:t>
            </a:r>
            <a:r>
              <a:rPr sz="2200" b="1"/>
              <a:t>leave-one-campaign-out</a:t>
            </a:r>
            <a:r>
              <a:rPr sz="2200" b="0"/>
              <a:t> (LOCO), not only random splits</a:t>
            </a:r>
          </a:p>
          <a:p>
            <a:pPr>
              <a:spcAft>
                <a:spcPts val="800"/>
              </a:spcAft>
            </a:pPr>
            <a:r>
              <a:rPr sz="2200" b="0"/>
              <a:t>• </a:t>
            </a:r>
            <a:r>
              <a:rPr sz="2200" b="1"/>
              <a:t>Then:</a:t>
            </a:r>
            <a:r>
              <a:rPr sz="2200" b="0"/>
              <a:t> maths of the derivative, alternatives, Bayesian uncertainty, PACE-like noise, two independent tests (EXPORTS-NA 2021; 8 AMT cruises)</a:t>
            </a:r>
          </a:p>
          <a:p>
            <a:pPr>
              <a:spcAft>
                <a:spcPts val="800"/>
              </a:spcAft>
            </a:pPr>
            <a:r>
              <a:rPr sz="2200" b="0"/>
              <a:t>• Every number traces to a script in scripts/sdp/ (100 unit tests)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F3A5F"/>
                </a:solidFill>
              </a:rPr>
              <a:t>Reproduction 1: the GSM residual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77295" cy="36576"/>
          </a:xfrm>
          <a:prstGeom prst="rect">
            <a:avLst/>
          </a:prstGeom>
          <a:solidFill>
            <a:srgbClr val="B0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kramer_fig4_ch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906884"/>
            <a:ext cx="6766377" cy="368431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60737" y="1234440"/>
            <a:ext cx="4465198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 b="0"/>
              <a:t>• OC4: y = 0.873x − 0.138, R² 0.746 (paper 0.87, 0.75)</a:t>
            </a:r>
          </a:p>
          <a:p>
            <a:pPr>
              <a:spcAft>
                <a:spcPts val="800"/>
              </a:spcAft>
            </a:pPr>
            <a:r>
              <a:rPr sz="2200" b="0"/>
              <a:t>• GSM: slope </a:t>
            </a:r>
            <a:r>
              <a:rPr sz="2200" b="1"/>
              <a:t>0.961</a:t>
            </a:r>
            <a:r>
              <a:rPr sz="2200" b="0"/>
              <a:t>, R² </a:t>
            </a:r>
            <a:r>
              <a:rPr sz="2200" b="1"/>
              <a:t>0.864</a:t>
            </a:r>
            <a:r>
              <a:rPr sz="2200" b="0"/>
              <a:t>, as the paper, once one degenerate SABOR fit is dropped</a:t>
            </a:r>
          </a:p>
          <a:p>
            <a:pPr>
              <a:spcAft>
                <a:spcPts val="800"/>
              </a:spcAft>
            </a:pPr>
            <a:r>
              <a:rPr sz="2200" b="0"/>
              <a:t>• Python port δRrs agrees below the deposit's rounding</a:t>
            </a:r>
          </a:p>
          <a:p>
            <a:pPr>
              <a:spcAft>
                <a:spcPts val="800"/>
              </a:spcAft>
            </a:pPr>
            <a:r>
              <a:rPr sz="2200" b="0"/>
              <a:t>• Paper typos fixed from the code (S_dg sign, η ratio)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72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0">
                <a:solidFill>
                  <a:srgbClr val="555555"/>
                </a:solidFill>
              </a:rPr>
              <a:t>this work, §4.1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F3A5F"/>
                </a:solidFill>
              </a:rPr>
              <a:t>Reproduction 2: Table 2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77295" cy="36576"/>
          </a:xfrm>
          <a:prstGeom prst="rect">
            <a:avLst/>
          </a:prstGeom>
          <a:solidFill>
            <a:srgbClr val="B0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lide_tabl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057445"/>
            <a:ext cx="7443014" cy="338318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037374" y="1234440"/>
            <a:ext cx="37885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 b="0"/>
              <a:t>• </a:t>
            </a:r>
            <a:r>
              <a:rPr sz="2200" b="1"/>
              <a:t>All 13</a:t>
            </a:r>
            <a:r>
              <a:rPr sz="2200" b="0"/>
              <a:t> R² within one quoted SD of the paper</a:t>
            </a:r>
          </a:p>
          <a:p>
            <a:pPr>
              <a:spcAft>
                <a:spcPts val="800"/>
              </a:spcAft>
            </a:pPr>
            <a:r>
              <a:rPr sz="2200" b="0"/>
              <a:t>• Kramer's own trained coefficients reproduce on our δRrs″</a:t>
            </a:r>
          </a:p>
          <a:p>
            <a:pPr>
              <a:spcAft>
                <a:spcPts val="800"/>
              </a:spcAft>
            </a:pPr>
            <a:r>
              <a:rPr sz="2200" b="0"/>
              <a:t>• Open: our Fig. 6 slopes are 0.02–0.23 lower (same R²)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72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0">
                <a:solidFill>
                  <a:srgbClr val="555555"/>
                </a:solidFill>
              </a:rPr>
              <a:t>this work, §4.2 (pcr_summary.json)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F3A5F"/>
                </a:solidFill>
              </a:rPr>
              <a:t>Reproduction 3: Fig. 6 and the pigment groups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77295" cy="36576"/>
          </a:xfrm>
          <a:prstGeom prst="rect">
            <a:avLst/>
          </a:prstGeom>
          <a:solidFill>
            <a:srgbClr val="B0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kramer_fig6_pigm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4149" y="1188720"/>
            <a:ext cx="6283395" cy="4206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440679"/>
            <a:ext cx="1109441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 b="0"/>
              <a:t>• Measured ratios give the paper's 5 groups exactly; modelled ones only loosely, and depend on how zeros are handled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72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0">
                <a:solidFill>
                  <a:srgbClr val="555555"/>
                </a:solidFill>
              </a:rPr>
              <a:t>this work, §4.2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F3A5F"/>
                </a:solidFill>
              </a:rPr>
              <a:t>The derivative is a fixed linear operator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77295" cy="36576"/>
          </a:xfrm>
          <a:prstGeom prst="rect">
            <a:avLst/>
          </a:prstGeom>
          <a:solidFill>
            <a:srgbClr val="B0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aths_effective_weigh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669" y="1234440"/>
            <a:ext cx="6532558" cy="5029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60737" y="1234440"/>
            <a:ext cx="4465198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 b="0"/>
              <a:t>• p̂ = Aᵀ(Dx) = (</a:t>
            </a:r>
            <a:r>
              <a:rPr sz="2200" b="1"/>
              <a:t>DᵀA</a:t>
            </a:r>
            <a:r>
              <a:rPr sz="2200" b="0"/>
              <a:t>)ᵀx: a PCR on δRrs″ </a:t>
            </a:r>
            <a:r>
              <a:rPr sz="2200" b="1"/>
              <a:t>is</a:t>
            </a:r>
            <a:r>
              <a:rPr sz="2200" b="0"/>
              <a:t> a linear model on δRrs</a:t>
            </a:r>
          </a:p>
          <a:p>
            <a:pPr>
              <a:spcAft>
                <a:spcPts val="800"/>
              </a:spcAft>
            </a:pPr>
            <a:r>
              <a:rPr sz="2200" b="0"/>
              <a:t>• It cannot add information; it only changes the prior</a:t>
            </a:r>
          </a:p>
          <a:p>
            <a:pPr>
              <a:spcAft>
                <a:spcPts val="800"/>
              </a:spcAft>
            </a:pPr>
            <a:r>
              <a:rPr sz="2200" b="0"/>
              <a:t>• </a:t>
            </a:r>
            <a:r>
              <a:rPr sz="2200" b="1"/>
              <a:t>99.7%</a:t>
            </a:r>
            <a:r>
              <a:rPr sz="2200" b="0"/>
              <a:t> of the effective weight power is at periods &lt; 10 nm</a:t>
            </a:r>
          </a:p>
          <a:p>
            <a:pPr>
              <a:spcAft>
                <a:spcPts val="800"/>
              </a:spcAft>
            </a:pPr>
            <a:r>
              <a:rPr sz="2200" b="0"/>
              <a:t>• Absorption features are 10–40 nm wide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72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0">
                <a:solidFill>
                  <a:srgbClr val="555555"/>
                </a:solidFill>
              </a:rPr>
              <a:t>this work, §5.1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F3A5F"/>
                </a:solidFill>
              </a:rPr>
              <a:t>… and it implies an anti-smooth prior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77295" cy="36576"/>
          </a:xfrm>
          <a:prstGeom prst="rect">
            <a:avLst/>
          </a:prstGeom>
          <a:solidFill>
            <a:srgbClr val="B0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aths_pri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742" y="1188720"/>
            <a:ext cx="10584210" cy="365759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4892040"/>
            <a:ext cx="11094415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 b="0"/>
              <a:t>• Derivative + z-score + shrinkage ⇒ Cov(w) ∝ DᵀS⁻²D: </a:t>
            </a:r>
            <a:r>
              <a:rPr sz="2200" b="1"/>
              <a:t>≈5300×</a:t>
            </a:r>
            <a:r>
              <a:rPr sz="2200" b="0"/>
              <a:t> more prior power at high than at low frequency</a:t>
            </a:r>
          </a:p>
          <a:p>
            <a:pPr>
              <a:spcAft>
                <a:spcPts val="800"/>
              </a:spcAft>
            </a:pPr>
            <a:r>
              <a:rPr sz="2200" b="0"/>
              <a:t>• Largest weights forced into the red, where the signal is weakest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72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0">
                <a:solidFill>
                  <a:srgbClr val="555555"/>
                </a:solidFill>
              </a:rPr>
              <a:t>this work, §5.1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F3A5F"/>
                </a:solidFill>
              </a:rPr>
              <a:t>Noise: information content and amplification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77295" cy="36576"/>
          </a:xfrm>
          <a:prstGeom prst="rect">
            <a:avLst/>
          </a:prstGeom>
          <a:solidFill>
            <a:srgbClr val="B0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aths_do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71026"/>
            <a:ext cx="6540831" cy="455602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135191" y="1234440"/>
            <a:ext cx="4690743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 b="0"/>
              <a:t>• Degrees of freedom for signal: ~</a:t>
            </a:r>
            <a:r>
              <a:rPr sz="2200" b="1"/>
              <a:t>10</a:t>
            </a:r>
            <a:r>
              <a:rPr sz="2200" b="0"/>
              <a:t> (2% in situ), ~</a:t>
            </a:r>
            <a:r>
              <a:rPr sz="2200" b="1"/>
              <a:t>6</a:t>
            </a:r>
            <a:r>
              <a:rPr sz="2200" b="0"/>
              <a:t> (PACE white), not 300</a:t>
            </a:r>
          </a:p>
          <a:p>
            <a:pPr>
              <a:spcAft>
                <a:spcPts val="800"/>
              </a:spcAft>
            </a:pPr>
            <a:r>
              <a:rPr sz="2200" b="0"/>
              <a:t>• 1 → 5 nm costs ≈ 25%; noise matters more than resolution</a:t>
            </a:r>
          </a:p>
          <a:p>
            <a:pPr>
              <a:spcAft>
                <a:spcPts val="800"/>
              </a:spcAft>
            </a:pPr>
            <a:r>
              <a:rPr sz="2200" b="0"/>
              <a:t>• PACE white noise: SDP Tchla noise = </a:t>
            </a:r>
            <a:r>
              <a:rPr sz="2200" b="1"/>
              <a:t>11.6×</a:t>
            </a:r>
            <a:r>
              <a:rPr sz="2200" b="0"/>
              <a:t> natural SD of Tchla (0.83× for weights fit on δRrs)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72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0">
                <a:solidFill>
                  <a:srgbClr val="555555"/>
                </a:solidFill>
              </a:rPr>
              <a:t>this work, §5.2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F3A5F"/>
                </a:solidFill>
              </a:rPr>
              <a:t>Skill beyond chlorophyll?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77295" cy="36576"/>
          </a:xfrm>
          <a:prstGeom prst="rect">
            <a:avLst/>
          </a:prstGeom>
          <a:solidFill>
            <a:srgbClr val="B0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diag_skill_absolu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59" y="1647512"/>
            <a:ext cx="6766377" cy="420305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60737" y="1234440"/>
            <a:ext cx="4465198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 b="0"/>
              <a:t>• A power law in </a:t>
            </a:r>
            <a:r>
              <a:rPr sz="2200" b="1"/>
              <a:t>GSM Tchla</a:t>
            </a:r>
            <a:r>
              <a:rPr sz="2200" b="0"/>
              <a:t> beats SDP for </a:t>
            </a:r>
            <a:r>
              <a:rPr sz="2200" b="1"/>
              <a:t>11 of 13</a:t>
            </a:r>
            <a:r>
              <a:rPr sz="2200" b="0"/>
              <a:t> pigments</a:t>
            </a:r>
          </a:p>
          <a:p>
            <a:pPr>
              <a:spcAft>
                <a:spcPts val="800"/>
              </a:spcAft>
            </a:pPr>
            <a:r>
              <a:rPr sz="2200" b="0"/>
              <a:t>• Only DVchla and Zea (cyanobacteria) beat it, in random splits</a:t>
            </a:r>
          </a:p>
          <a:p>
            <a:pPr>
              <a:spcAft>
                <a:spcPts val="800"/>
              </a:spcAft>
            </a:pPr>
            <a:r>
              <a:rPr sz="2200" b="0"/>
              <a:t>• Ratios implied by SDP's products: R² 0.02–0.09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72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0">
                <a:solidFill>
                  <a:srgbClr val="555555"/>
                </a:solidFill>
              </a:rPr>
              <a:t>this work, §6.1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F3A5F"/>
                </a:solidFill>
              </a:rPr>
              <a:t>Leakage: hold out a whole campaign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77295" cy="36576"/>
          </a:xfrm>
          <a:prstGeom prst="rect">
            <a:avLst/>
          </a:prstGeom>
          <a:solidFill>
            <a:srgbClr val="B0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diag_loco_tch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635" y="1234440"/>
            <a:ext cx="5456762" cy="5029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796872" y="1234440"/>
            <a:ext cx="502906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 b="0"/>
              <a:t>• SDP Tchla R² </a:t>
            </a:r>
            <a:r>
              <a:rPr sz="2200" b="1"/>
              <a:t>0.72 → 0.44</a:t>
            </a:r>
            <a:r>
              <a:rPr sz="2200" b="0"/>
              <a:t> under LOCO; null 0.66</a:t>
            </a:r>
          </a:p>
          <a:p>
            <a:pPr>
              <a:spcAft>
                <a:spcPts val="800"/>
              </a:spcAft>
            </a:pPr>
            <a:r>
              <a:rPr sz="2200" b="0"/>
              <a:t>• Roughly half of SDP's skill is within-cruise similarity</a:t>
            </a:r>
          </a:p>
          <a:p>
            <a:pPr>
              <a:spcAft>
                <a:spcPts val="800"/>
              </a:spcAft>
            </a:pPr>
            <a:r>
              <a:rPr sz="2200" b="0"/>
              <a:t>• No ratio beats the null significantly out of campaign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72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0">
                <a:solidFill>
                  <a:srgbClr val="555555"/>
                </a:solidFill>
              </a:rPr>
              <a:t>this work, §6.2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F3A5F"/>
                </a:solidFill>
              </a:rPr>
              <a:t>What the residual buys — and what the derivative costs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77295" cy="36576"/>
          </a:xfrm>
          <a:prstGeom prst="rect">
            <a:avLst/>
          </a:prstGeom>
          <a:solidFill>
            <a:srgbClr val="B0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lide_spa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989781"/>
            <a:ext cx="6766377" cy="351851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60737" y="1234440"/>
            <a:ext cx="4465198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 b="0"/>
              <a:t>• Red bars: finite-difference spaces — </a:t>
            </a:r>
            <a:r>
              <a:rPr sz="2200" b="1"/>
              <a:t>worst</a:t>
            </a:r>
            <a:r>
              <a:rPr sz="2200" b="0"/>
              <a:t> out of campaign</a:t>
            </a:r>
          </a:p>
          <a:p>
            <a:pPr>
              <a:spcAft>
                <a:spcPts val="800"/>
              </a:spcAft>
            </a:pPr>
            <a:r>
              <a:rPr sz="2200" b="0"/>
              <a:t>• Same information without differentiating: ~2× better</a:t>
            </a:r>
          </a:p>
          <a:p>
            <a:pPr>
              <a:spcAft>
                <a:spcPts val="800"/>
              </a:spcAft>
            </a:pPr>
            <a:r>
              <a:rPr sz="2200" b="0"/>
              <a:t>• Empirical spline residual (M1) ≈ GSM residual: the NOMAD baseline is not what helps</a:t>
            </a:r>
          </a:p>
          <a:p>
            <a:pPr>
              <a:spcAft>
                <a:spcPts val="800"/>
              </a:spcAft>
            </a:pPr>
            <a:r>
              <a:rPr sz="2200" b="0"/>
              <a:t>• Wider Savitzky–Golay windows transfer better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72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0">
                <a:solidFill>
                  <a:srgbClr val="555555"/>
                </a:solidFill>
              </a:rPr>
              <a:t>this work, §6.3 (source_spaces_summary.csv)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F3A5F"/>
                </a:solidFill>
              </a:rPr>
              <a:t>Alternative: a shared, smooth, noise-aware weighting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77295" cy="36576"/>
          </a:xfrm>
          <a:prstGeom prst="rect">
            <a:avLst/>
          </a:prstGeom>
          <a:solidFill>
            <a:srgbClr val="B0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lide_mode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282991"/>
            <a:ext cx="6766377" cy="29320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60737" y="1234440"/>
            <a:ext cx="4465198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 b="0"/>
              <a:t>• One low-rank W for all pigments on δRrs ⊕ GSM parameters</a:t>
            </a:r>
          </a:p>
          <a:p>
            <a:pPr>
              <a:spcAft>
                <a:spcPts val="800"/>
              </a:spcAft>
            </a:pPr>
            <a:r>
              <a:rPr sz="2200" b="0"/>
              <a:t>• Penalty: noise variance + smoothness; rank by leave-campaign-out</a:t>
            </a:r>
          </a:p>
          <a:p>
            <a:pPr>
              <a:spcAft>
                <a:spcPts val="800"/>
              </a:spcAft>
            </a:pPr>
            <a:r>
              <a:rPr sz="2200" b="0"/>
              <a:t>• Changing only the estimator (ridge, PLS) does </a:t>
            </a:r>
            <a:r>
              <a:rPr sz="2200" b="1"/>
              <a:t>nothing</a:t>
            </a:r>
          </a:p>
          <a:p>
            <a:pPr>
              <a:spcAft>
                <a:spcPts val="800"/>
              </a:spcAft>
            </a:pPr>
            <a:r>
              <a:rPr sz="2200" b="0"/>
              <a:t>• Sharing across pigments lifts the ratios: </a:t>
            </a:r>
            <a:r>
              <a:rPr sz="2200" b="1"/>
              <a:t>6</a:t>
            </a:r>
            <a:r>
              <a:rPr sz="2200" b="0"/>
              <a:t> beat the null out of campaign (PCR: 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72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0">
                <a:solidFill>
                  <a:srgbClr val="555555"/>
                </a:solidFill>
              </a:rPr>
              <a:t>this work, §7 (weighting_summary.csv)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F3A5F"/>
                </a:solidFill>
              </a:rPr>
              <a:t>Only two compositional axes transfer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77295" cy="36576"/>
          </a:xfrm>
          <a:prstGeom prst="rect">
            <a:avLst/>
          </a:prstGeom>
          <a:solidFill>
            <a:srgbClr val="B0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weighting_latent_spect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77702"/>
            <a:ext cx="5638647" cy="3462515"/>
          </a:xfrm>
          <a:prstGeom prst="rect">
            <a:avLst/>
          </a:prstGeom>
        </p:spPr>
      </p:pic>
      <p:pic>
        <p:nvPicPr>
          <p:cNvPr id="5" name="Picture 4" descr="ks19_eo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7287" y="1241157"/>
            <a:ext cx="5638647" cy="37356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120640"/>
            <a:ext cx="11094415" cy="118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 b="0"/>
              <a:t>• Latent 1 ≈ diatom ↔ cyanobacteria = Kramer &amp; Siegel EOF mode 1</a:t>
            </a:r>
          </a:p>
          <a:p>
            <a:pPr>
              <a:spcAft>
                <a:spcPts val="800"/>
              </a:spcAft>
            </a:pPr>
            <a:r>
              <a:rPr sz="2200" b="0"/>
              <a:t>• Latent 2: green algae / haptophytes. Weight sits at 10–40 nm scales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55080"/>
            <a:ext cx="112772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0">
                <a:solidFill>
                  <a:srgbClr val="555555"/>
                </a:solidFill>
              </a:rPr>
              <a:t>this work, §7.3 (left); Kramer &amp; Siegel 2019 Fig. 4 (right)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F3A5F"/>
                </a:solidFill>
              </a:rPr>
              <a:t>Which wavelengths carry the weight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77295" cy="36576"/>
          </a:xfrm>
          <a:prstGeom prst="rect">
            <a:avLst/>
          </a:prstGeom>
          <a:solidFill>
            <a:srgbClr val="B0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weighting_target_spect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00966"/>
            <a:ext cx="6766377" cy="489614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60737" y="1234440"/>
            <a:ext cx="4465198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 b="0"/>
              <a:t>• Shared W: </a:t>
            </a:r>
            <a:r>
              <a:rPr sz="2200" b="1"/>
              <a:t>no</a:t>
            </a:r>
            <a:r>
              <a:rPr sz="2200" b="0"/>
              <a:t> power at periods &lt; 10 nm (PCR: 99.7%)</a:t>
            </a:r>
          </a:p>
          <a:p>
            <a:pPr>
              <a:spcAft>
                <a:spcPts val="800"/>
              </a:spcAft>
            </a:pPr>
            <a:r>
              <a:rPr sz="2200" b="0"/>
              <a:t>• ≈ 46% of the weight at </a:t>
            </a:r>
            <a:r>
              <a:rPr sz="2200" b="1"/>
              <a:t>600–700 nm</a:t>
            </a:r>
            <a:r>
              <a:rPr sz="2200" b="0"/>
              <a:t> for Fuco, Zea, DVchla, Chlc12</a:t>
            </a:r>
          </a:p>
          <a:p>
            <a:pPr>
              <a:spcAft>
                <a:spcPts val="800"/>
              </a:spcAft>
            </a:pPr>
            <a:r>
              <a:rPr sz="2200" b="0"/>
              <a:t>• Lobes at the Chl red peak / 683 nm fluorescence and Chl c, phycobilin bands (suggestive)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72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0">
                <a:solidFill>
                  <a:srgbClr val="555555"/>
                </a:solidFill>
              </a:rPr>
              <a:t>this work, §7.4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F3A5F"/>
                </a:solidFill>
              </a:rPr>
              <a:t>Calibrated intervals out of campaign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77295" cy="36576"/>
          </a:xfrm>
          <a:prstGeom prst="rect">
            <a:avLst/>
          </a:prstGeom>
          <a:solidFill>
            <a:srgbClr val="B0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uncertainty_cover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344" y="1188720"/>
            <a:ext cx="10543007" cy="356615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4800600"/>
            <a:ext cx="11094415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 b="0"/>
              <a:t>• Bayesian shared W, cross-fitted, Monte Carlo noise through the GSM: 68/95% coverage </a:t>
            </a:r>
            <a:r>
              <a:rPr sz="2200" b="1"/>
              <a:t>0.71/0.94</a:t>
            </a:r>
            <a:r>
              <a:rPr sz="2200" b="0"/>
              <a:t>, flat PIT (report §8.2)</a:t>
            </a:r>
          </a:p>
          <a:p>
            <a:pPr>
              <a:spcAft>
                <a:spcPts val="800"/>
              </a:spcAft>
            </a:pPr>
            <a:r>
              <a:rPr sz="2200" b="0"/>
              <a:t>• Without input-noise propagation, coverage drops under PACE noise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72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0">
                <a:solidFill>
                  <a:srgbClr val="555555"/>
                </a:solidFill>
              </a:rPr>
              <a:t>this work, §8.2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F3A5F"/>
                </a:solidFill>
              </a:rPr>
              <a:t>Degradation: in situ → PACE noise, 1 → 5 nm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77295" cy="36576"/>
          </a:xfrm>
          <a:prstGeom prst="rect">
            <a:avLst/>
          </a:prstGeom>
          <a:solidFill>
            <a:srgbClr val="B0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uncertainty_ski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638056"/>
            <a:ext cx="11460175" cy="266748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4800600"/>
            <a:ext cx="11094415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 b="0"/>
              <a:t>• SDP's PCR: R² ≈ </a:t>
            </a:r>
            <a:r>
              <a:rPr sz="2200" b="1"/>
              <a:t>0</a:t>
            </a:r>
            <a:r>
              <a:rPr sz="2200" b="0"/>
              <a:t> under any realistic noise</a:t>
            </a:r>
          </a:p>
          <a:p>
            <a:pPr>
              <a:spcAft>
                <a:spcPts val="800"/>
              </a:spcAft>
            </a:pPr>
            <a:r>
              <a:rPr sz="2200" b="0"/>
              <a:t>• Noise-aware shared W, PACE white: Fuco:Tchla R² </a:t>
            </a:r>
            <a:r>
              <a:rPr sz="2200" b="1"/>
              <a:t>0.36</a:t>
            </a:r>
            <a:r>
              <a:rPr sz="2200" b="0"/>
              <a:t> (null 0.27), ±0.33 dex; </a:t>
            </a:r>
            <a:r>
              <a:rPr sz="2200" b="1"/>
              <a:t>5 nm sampling costs nothing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72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0">
                <a:solidFill>
                  <a:srgbClr val="555555"/>
                </a:solidFill>
              </a:rPr>
              <a:t>this work, §8.3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F3A5F"/>
                </a:solidFill>
              </a:rPr>
              <a:t>Independent campaign: EXPORTS-NA 2021 (17 samples)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77295" cy="36576"/>
          </a:xfrm>
          <a:prstGeom prst="rect">
            <a:avLst/>
          </a:prstGeom>
          <a:solidFill>
            <a:srgbClr val="B0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xports_na_tch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2613" y="1188720"/>
            <a:ext cx="4164941" cy="3566159"/>
          </a:xfrm>
          <a:prstGeom prst="rect">
            <a:avLst/>
          </a:prstGeom>
        </p:spPr>
      </p:pic>
      <p:pic>
        <p:nvPicPr>
          <p:cNvPr id="5" name="Picture 4" descr="exports_na_rati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7287" y="1217870"/>
            <a:ext cx="5638647" cy="350785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846320"/>
            <a:ext cx="1109441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 b="0"/>
              <a:t>• SDP gets the bloom's diatom pigment </a:t>
            </a:r>
            <a:r>
              <a:rPr sz="2200" b="1"/>
              <a:t>levels</a:t>
            </a:r>
            <a:r>
              <a:rPr sz="2200" b="0"/>
              <a:t> right (nulls biased low by 0.6 dex), but over-predicts trace pigments by 0.5–1.1 dex</a:t>
            </a:r>
          </a:p>
          <a:p>
            <a:pPr>
              <a:spcAft>
                <a:spcPts val="800"/>
              </a:spcAft>
            </a:pPr>
            <a:r>
              <a:rPr sz="2200" b="0"/>
              <a:t>• One campaign = one draw from the LOCO spread; 68% intervals miss the campaign bias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55080"/>
            <a:ext cx="112772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0">
                <a:solidFill>
                  <a:srgbClr val="555555"/>
                </a:solidFill>
              </a:rPr>
              <a:t>this work, §9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F3A5F"/>
                </a:solidFill>
              </a:rPr>
              <a:t>Second independent test: 8 AMT cruises (2013–2024)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77295" cy="36576"/>
          </a:xfrm>
          <a:prstGeom prst="rect">
            <a:avLst/>
          </a:prstGeom>
          <a:solidFill>
            <a:srgbClr val="B0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mt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0927" y="1234440"/>
            <a:ext cx="3268312" cy="5029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233007" y="1234440"/>
            <a:ext cx="5592927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 b="0"/>
              <a:t>• Tom Jordan's compilation: 210 HPLC + Rrs rows → </a:t>
            </a:r>
            <a:r>
              <a:rPr sz="2200" b="1"/>
              <a:t>182 spectra</a:t>
            </a:r>
            <a:r>
              <a:rPr sz="2200" b="0"/>
              <a:t> after harmonisation (pairs averaged, bad rows dropped)</a:t>
            </a:r>
          </a:p>
          <a:p>
            <a:pPr>
              <a:spcAft>
                <a:spcPts val="800"/>
              </a:spcAft>
            </a:pPr>
            <a:r>
              <a:rPr sz="2200" b="0"/>
              <a:t>• 4 HPLC labs; oligotrophic-heavy (median Tchla 0.10); no overlap with the 145</a:t>
            </a:r>
          </a:p>
          <a:p>
            <a:pPr>
              <a:spcAft>
                <a:spcPts val="800"/>
              </a:spcAft>
            </a:pPr>
            <a:r>
              <a:rPr sz="2200" b="0"/>
              <a:t>• Radiometry and HPLC agree: GSM Tchla R² 0.87, slope 1.03</a:t>
            </a:r>
          </a:p>
          <a:p>
            <a:pPr>
              <a:spcAft>
                <a:spcPts val="800"/>
              </a:spcAft>
            </a:pPr>
            <a:r>
              <a:rPr sz="2200" b="0"/>
              <a:t>• Frozen models (nothing retrained); 5 nm mean, as for the deposit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72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0">
                <a:solidFill>
                  <a:srgbClr val="555555"/>
                </a:solidFill>
              </a:rPr>
              <a:t>this work, §11.1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F3A5F"/>
                </a:solidFill>
              </a:rPr>
              <a:t>AMT: ratios against the Tchla null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77295" cy="36576"/>
          </a:xfrm>
          <a:prstGeom prst="rect">
            <a:avLst/>
          </a:prstGeom>
          <a:solidFill>
            <a:srgbClr val="B0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lide_amt_dr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39449"/>
            <a:ext cx="7217468" cy="46191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811828" y="1234440"/>
            <a:ext cx="4014106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 b="0"/>
              <a:t>• Shared W beats the null for </a:t>
            </a:r>
            <a:r>
              <a:rPr sz="2200" b="1"/>
              <a:t>8 of 12</a:t>
            </a:r>
            <a:r>
              <a:rPr sz="2200" b="0"/>
              <a:t> ratios (cluster bootstrap over cruises)</a:t>
            </a:r>
          </a:p>
          <a:p>
            <a:pPr>
              <a:spcAft>
                <a:spcPts val="800"/>
              </a:spcAft>
            </a:pPr>
            <a:r>
              <a:rPr sz="2200" b="0"/>
              <a:t>• Kramer's PCR: </a:t>
            </a:r>
            <a:r>
              <a:rPr sz="2200" b="1"/>
              <a:t>worse for all 12</a:t>
            </a:r>
            <a:r>
              <a:rPr sz="2200" b="0"/>
              <a:t>, by 0.6–1.2 dex</a:t>
            </a:r>
          </a:p>
          <a:p>
            <a:pPr>
              <a:spcAft>
                <a:spcPts val="800"/>
              </a:spcAft>
            </a:pPr>
            <a:r>
              <a:rPr sz="2200" b="0"/>
              <a:t>• Absolute pigments: linear models put ~40% of Tchla below the LOD; only DVchla (shared W) beats the null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72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0">
                <a:solidFill>
                  <a:srgbClr val="555555"/>
                </a:solidFill>
              </a:rPr>
              <a:t>this work, §11.3 (amt_holdout_vs_null.csv)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F3A5F"/>
                </a:solidFill>
              </a:rPr>
              <a:t>AMT: consistent across cruises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77295" cy="36576"/>
          </a:xfrm>
          <a:prstGeom prst="rect">
            <a:avLst/>
          </a:prstGeom>
          <a:solidFill>
            <a:srgbClr val="B0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lide_amt_cruis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917607"/>
            <a:ext cx="6540831" cy="366286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135191" y="1234440"/>
            <a:ext cx="4690743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 b="0"/>
              <a:t>• Blue = shared W better than the null in that cruise</a:t>
            </a:r>
          </a:p>
          <a:p>
            <a:pPr>
              <a:spcAft>
                <a:spcPts val="800"/>
              </a:spcAft>
            </a:pPr>
            <a:r>
              <a:rPr sz="2200" b="0"/>
              <a:t>• Fuco, Zea, HexFuco: </a:t>
            </a:r>
            <a:r>
              <a:rPr sz="2200" b="1"/>
              <a:t>8 of 8</a:t>
            </a:r>
            <a:r>
              <a:rPr sz="2200" b="0"/>
              <a:t>; DVchla, Chlc12, Chlc3: 7 of 8</a:t>
            </a:r>
          </a:p>
          <a:p>
            <a:pPr>
              <a:spcAft>
                <a:spcPts val="800"/>
              </a:spcAft>
            </a:pPr>
            <a:r>
              <a:rPr sz="2200" b="0"/>
              <a:t>• The same four ratios won under LOCO and on EXPORTS-NA</a:t>
            </a:r>
          </a:p>
          <a:p>
            <a:pPr>
              <a:spcAft>
                <a:spcPts val="800"/>
              </a:spcAft>
            </a:pPr>
            <a:r>
              <a:rPr sz="2200" b="0"/>
              <a:t>• Gain is within-cruise tracking (Zea:Tchla R² 0.66 vs 0.42)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72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0">
                <a:solidFill>
                  <a:srgbClr val="555555"/>
                </a:solidFill>
              </a:rPr>
              <a:t>this work, §11.3; – = not scored (MVchlb, AMT27 DVchla)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F3A5F"/>
                </a:solidFill>
              </a:rPr>
              <a:t>AMT: uncertainty and the campaign term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77295" cy="36576"/>
          </a:xfrm>
          <a:prstGeom prst="rect">
            <a:avLst/>
          </a:prstGeom>
          <a:solidFill>
            <a:srgbClr val="B0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mt_holdout_cover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347" y="1188720"/>
            <a:ext cx="10287000" cy="32918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4526280"/>
            <a:ext cx="11094415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 b="0"/>
              <a:t>• Per-sample ratio intervals already cover (0.80 / 0.98); adding τ² double-counts</a:t>
            </a:r>
          </a:p>
          <a:p>
            <a:pPr>
              <a:spcAft>
                <a:spcPts val="800"/>
              </a:spcAft>
            </a:pPr>
            <a:r>
              <a:rPr sz="2200" b="0"/>
              <a:t>• Cruise means need the campaign term: inside 95% </a:t>
            </a:r>
            <a:r>
              <a:rPr sz="2200" b="1"/>
              <a:t>1.00</a:t>
            </a:r>
            <a:r>
              <a:rPr sz="2200" b="0"/>
              <a:t> vs 0.72 assuming independent errors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72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0">
                <a:solidFill>
                  <a:srgbClr val="555555"/>
                </a:solidFill>
              </a:rPr>
              <a:t>this work, §11.4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F3A5F"/>
                </a:solidFill>
              </a:rPr>
              <a:t>What we found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77295" cy="36576"/>
          </a:xfrm>
          <a:prstGeom prst="rect">
            <a:avLst/>
          </a:prstGeom>
          <a:solidFill>
            <a:srgbClr val="B0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91153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 b="0"/>
              <a:t>• SDP </a:t>
            </a:r>
            <a:r>
              <a:rPr sz="2200" b="1"/>
              <a:t>reproduces</a:t>
            </a:r>
            <a:r>
              <a:rPr sz="2200" b="0"/>
              <a:t> from public data and code</a:t>
            </a:r>
          </a:p>
          <a:p>
            <a:pPr>
              <a:spcAft>
                <a:spcPts val="800"/>
              </a:spcAft>
            </a:pPr>
            <a:r>
              <a:rPr sz="2200" b="0"/>
              <a:t>• The 2nd derivative is a </a:t>
            </a:r>
            <a:r>
              <a:rPr sz="2200" b="1"/>
              <a:t>prior, not information</a:t>
            </a:r>
            <a:r>
              <a:rPr sz="2200" b="0"/>
              <a:t>: anti-smooth, noise amplifying (≥10×)</a:t>
            </a:r>
          </a:p>
          <a:p>
            <a:pPr>
              <a:spcAft>
                <a:spcPts val="800"/>
              </a:spcAft>
            </a:pPr>
            <a:r>
              <a:rPr sz="2200" b="0"/>
              <a:t>• Most of SDP's skill is </a:t>
            </a:r>
            <a:r>
              <a:rPr sz="2200" b="1"/>
              <a:t>chlorophyll</a:t>
            </a:r>
            <a:r>
              <a:rPr sz="2200" b="0"/>
              <a:t> and </a:t>
            </a:r>
            <a:r>
              <a:rPr sz="2200" b="1"/>
              <a:t>within-campaign</a:t>
            </a:r>
            <a:r>
              <a:rPr sz="2200" b="0"/>
              <a:t> similarity</a:t>
            </a:r>
          </a:p>
          <a:p>
            <a:pPr>
              <a:spcAft>
                <a:spcPts val="800"/>
              </a:spcAft>
            </a:pPr>
            <a:r>
              <a:rPr sz="2200" b="0"/>
              <a:t>• Hyperspectral Rrs does carry composition: ~</a:t>
            </a:r>
            <a:r>
              <a:rPr sz="2200" b="1"/>
              <a:t>two</a:t>
            </a:r>
            <a:r>
              <a:rPr sz="2200" b="0"/>
              <a:t> smooth (10–40 nm) axes transfer between campaigns</a:t>
            </a:r>
          </a:p>
          <a:p>
            <a:pPr>
              <a:spcAft>
                <a:spcPts val="800"/>
              </a:spcAft>
            </a:pPr>
            <a:r>
              <a:rPr sz="2200" b="0"/>
              <a:t>• A shared, smooth, noise-aware W with calibrated intervals beats the null for Fuco, Zea, DVchla, Chlc12 ratios</a:t>
            </a:r>
          </a:p>
          <a:p>
            <a:pPr>
              <a:spcAft>
                <a:spcPts val="800"/>
              </a:spcAft>
            </a:pPr>
            <a:r>
              <a:rPr sz="2200" b="0"/>
              <a:t>• Confirmed on </a:t>
            </a:r>
            <a:r>
              <a:rPr sz="2200" b="1"/>
              <a:t>8 independent AMT cruises</a:t>
            </a:r>
            <a:r>
              <a:rPr sz="2200" b="0"/>
              <a:t>: shared W beats the null for 8 of 12 ratios; SDP's PCR for none</a:t>
            </a:r>
          </a:p>
          <a:p>
            <a:pPr>
              <a:spcAft>
                <a:spcPts val="800"/>
              </a:spcAft>
            </a:pPr>
            <a:r>
              <a:rPr sz="2200" b="0"/>
              <a:t>• At PACE noise: SDP has no skill; the aware W keeps a modest edge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F3A5F"/>
                </a:solidFill>
              </a:rPr>
              <a:t>Recommendations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77295" cy="36576"/>
          </a:xfrm>
          <a:prstGeom prst="rect">
            <a:avLst/>
          </a:prstGeom>
          <a:solidFill>
            <a:srgbClr val="B0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91153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 b="0"/>
              <a:t>• </a:t>
            </a:r>
            <a:r>
              <a:rPr sz="2200" b="1"/>
              <a:t>Always report</a:t>
            </a:r>
            <a:r>
              <a:rPr sz="2200" b="0"/>
              <a:t> skill against a Tchla-only null </a:t>
            </a:r>
            <a:r>
              <a:rPr sz="2200" b="1"/>
              <a:t>and</a:t>
            </a:r>
            <a:r>
              <a:rPr sz="2200" b="0"/>
              <a:t> a held-out campaign</a:t>
            </a:r>
          </a:p>
          <a:p>
            <a:pPr>
              <a:spcAft>
                <a:spcPts val="800"/>
              </a:spcAft>
            </a:pPr>
            <a:r>
              <a:rPr sz="2200" b="0"/>
              <a:t>• </a:t>
            </a:r>
            <a:r>
              <a:rPr sz="2200" b="1"/>
              <a:t>Target</a:t>
            </a:r>
            <a:r>
              <a:rPr sz="2200" b="0"/>
              <a:t> log pigment:Tchla ratios; shared low-rank W on δRrs (or M1)</a:t>
            </a:r>
          </a:p>
          <a:p>
            <a:pPr>
              <a:spcAft>
                <a:spcPts val="800"/>
              </a:spcAft>
            </a:pPr>
            <a:r>
              <a:rPr sz="2200" b="0"/>
              <a:t>• </a:t>
            </a:r>
            <a:r>
              <a:rPr sz="2200" b="1"/>
              <a:t>Add</a:t>
            </a:r>
            <a:r>
              <a:rPr sz="2200" b="0"/>
              <a:t> a between-campaign term to the uncertainty of any campaign or regional mean</a:t>
            </a:r>
          </a:p>
          <a:p>
            <a:pPr>
              <a:spcAft>
                <a:spcPts val="800"/>
              </a:spcAft>
            </a:pPr>
            <a:r>
              <a:rPr sz="2200" b="0"/>
              <a:t>• </a:t>
            </a:r>
            <a:r>
              <a:rPr sz="2200" b="1"/>
              <a:t>Data:</a:t>
            </a:r>
            <a:r>
              <a:rPr sz="2200" b="0"/>
              <a:t> raw (unsmoothed) spectra + uncertainties; more campaigns (El Hourany 237 stations, PACE-era matchups)</a:t>
            </a:r>
          </a:p>
          <a:p>
            <a:pPr>
              <a:spcAft>
                <a:spcPts val="800"/>
              </a:spcAft>
            </a:pPr>
            <a:r>
              <a:rPr sz="2200" b="0"/>
              <a:t>• </a:t>
            </a:r>
            <a:r>
              <a:rPr sz="2200" b="1"/>
              <a:t>Fix</a:t>
            </a:r>
            <a:r>
              <a:rPr sz="2200" b="0"/>
              <a:t> the a_w smoothing mismatch in the forward model</a:t>
            </a:r>
          </a:p>
          <a:p>
            <a:pPr>
              <a:spcAft>
                <a:spcPts val="800"/>
              </a:spcAft>
            </a:pPr>
            <a:r>
              <a:rPr sz="2200" b="0"/>
              <a:t>• </a:t>
            </a:r>
            <a:r>
              <a:rPr sz="2200" b="1"/>
              <a:t>Concentrations:</a:t>
            </a:r>
            <a:r>
              <a:rPr sz="2200" b="0"/>
              <a:t> never linear; log targets, then a censored log-normal likelihood (Tom Jordan)</a:t>
            </a:r>
          </a:p>
          <a:p>
            <a:pPr>
              <a:spcAft>
                <a:spcPts val="800"/>
              </a:spcAft>
            </a:pPr>
            <a:r>
              <a:rPr sz="2200" b="0"/>
              <a:t>• </a:t>
            </a:r>
            <a:r>
              <a:rPr sz="2200" b="1"/>
              <a:t>Next:</a:t>
            </a:r>
            <a:r>
              <a:rPr sz="2200" b="0"/>
              <a:t> retrain on deposit + AMT (16 groups) once Tom answers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F3A5F"/>
                </a:solidFill>
              </a:rPr>
              <a:t>What PACE OCI application would require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77295" cy="36576"/>
          </a:xfrm>
          <a:prstGeom prst="rect">
            <a:avLst/>
          </a:prstGeom>
          <a:solidFill>
            <a:srgbClr val="B0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91153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 b="0"/>
              <a:t>• An OCI noise model </a:t>
            </a:r>
            <a:r>
              <a:rPr sz="2400" b="1"/>
              <a:t>split into white and smooth parts</a:t>
            </a:r>
            <a:r>
              <a:rPr sz="2400" b="0"/>
              <a:t> (Rrs_unc gives only the diagonal)</a:t>
            </a:r>
          </a:p>
          <a:p>
            <a:pPr>
              <a:spcAft>
                <a:spcPts val="800"/>
              </a:spcAft>
            </a:pPr>
            <a:r>
              <a:rPr sz="2400" b="0"/>
              <a:t>• Training spectra convolved to OCI bands, </a:t>
            </a:r>
            <a:r>
              <a:rPr sz="2400" b="1"/>
              <a:t>not pre-smoothed</a:t>
            </a:r>
            <a:r>
              <a:rPr sz="2400" b="0"/>
              <a:t>; same for a_w, A, B</a:t>
            </a:r>
          </a:p>
          <a:p>
            <a:pPr>
              <a:spcAft>
                <a:spcPts val="800"/>
              </a:spcAft>
            </a:pPr>
            <a:r>
              <a:rPr sz="2400" b="0"/>
              <a:t>• Handle fluorescence (683 nm), Raman and gas bands that δRrs keeps</a:t>
            </a:r>
          </a:p>
          <a:p>
            <a:pPr>
              <a:spcAft>
                <a:spcPts val="800"/>
              </a:spcAft>
            </a:pPr>
            <a:r>
              <a:rPr sz="2400" b="0"/>
              <a:t>• Validate on PACE-era matchups against both baselines, and against NASA's SDP product</a:t>
            </a:r>
          </a:p>
          <a:p>
            <a:pPr>
              <a:spcAft>
                <a:spcPts val="800"/>
              </a:spcAft>
            </a:pPr>
            <a:r>
              <a:rPr sz="2400" b="0"/>
              <a:t>• Per-pixel intervals; a regional term for spatial means; stated averaging footprint</a:t>
            </a:r>
          </a:p>
          <a:p>
            <a:pPr>
              <a:spcAft>
                <a:spcPts val="800"/>
              </a:spcAft>
            </a:pPr>
            <a:r>
              <a:rPr sz="2400" b="0"/>
              <a:t>• SDP coefficients at OCI white noise: ≥ </a:t>
            </a:r>
            <a:r>
              <a:rPr sz="2400" b="1"/>
              <a:t>135</a:t>
            </a:r>
            <a:r>
              <a:rPr sz="2400" b="0"/>
              <a:t> pixels averaged just to reach one natural SD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F3A5F"/>
                </a:solidFill>
              </a:rPr>
              <a:t>Provenance and references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77295" cy="36576"/>
          </a:xfrm>
          <a:prstGeom prst="rect">
            <a:avLst/>
          </a:prstGeom>
          <a:solidFill>
            <a:srgbClr val="B0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91153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/>
              <a:t>• Code: epft_up/sdp/; scripts: scripts/sdp/ (run order in report §10.4)</a:t>
            </a:r>
          </a:p>
          <a:p>
            <a:pPr>
              <a:spcAft>
                <a:spcPts val="800"/>
              </a:spcAft>
            </a:pPr>
            <a:r>
              <a:rPr sz="2000" b="0"/>
              <a:t>• Checks: scripts/sdp/report_provenance.py — 50/50 headline numbers verified</a:t>
            </a:r>
          </a:p>
          <a:p>
            <a:pPr>
              <a:spcAft>
                <a:spcPts val="800"/>
              </a:spcAft>
            </a:pPr>
            <a:r>
              <a:rPr sz="2000" b="0"/>
              <a:t>• AMT protocol for other groups: reports/provenance/AMT_benchmark_protocol.md</a:t>
            </a:r>
          </a:p>
          <a:p>
            <a:pPr>
              <a:spcAft>
                <a:spcPts val="800"/>
              </a:spcAft>
            </a:pPr>
            <a:r>
              <a:rPr sz="2000" b="0"/>
              <a:t>• This deck: scripts/sdp/make_slides.py</a:t>
            </a:r>
          </a:p>
          <a:p>
            <a:pPr>
              <a:spcAft>
                <a:spcPts val="800"/>
              </a:spcAft>
            </a:pPr>
            <a:r>
              <a:rPr sz="2000" b="0"/>
              <a:t>• Kramer, Siegel, Maritorena &amp; Catlett 2022, RSE 270, 112879</a:t>
            </a:r>
          </a:p>
          <a:p>
            <a:pPr>
              <a:spcAft>
                <a:spcPts val="800"/>
              </a:spcAft>
            </a:pPr>
            <a:r>
              <a:rPr sz="2000" b="0"/>
              <a:t>• Kramer et al. 2024, Opt. Express 32, 34482</a:t>
            </a:r>
          </a:p>
          <a:p>
            <a:pPr>
              <a:spcAft>
                <a:spcPts val="800"/>
              </a:spcAft>
            </a:pPr>
            <a:r>
              <a:rPr sz="2000" b="0"/>
              <a:t>• Kramer &amp; Siegel 2019, JGR Oceans; Catlett &amp; Siegel 2018, JGR Oceans</a:t>
            </a:r>
          </a:p>
          <a:p>
            <a:pPr>
              <a:spcAft>
                <a:spcPts val="800"/>
              </a:spcAft>
            </a:pPr>
            <a:r>
              <a:rPr sz="2000" b="0"/>
              <a:t>• El Hourany &amp; Kramer 2026 (preprint); Lange et al. 2020, Opt. Express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